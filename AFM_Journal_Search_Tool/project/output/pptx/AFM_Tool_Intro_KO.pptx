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188720"/>
            <a:ext cx="6400800" cy="6400800"/>
          </a:xfrm>
          <a:prstGeom prst="ellipse">
            <a:avLst/>
          </a:prstGeom>
          <a:solidFill>
            <a:srgbClr val="185FA5">
              <a:alpha val="18000"/>
            </a:srgbClr>
          </a:solidFill>
          <a:ln w="12700">
            <a:solidFill>
              <a:srgbClr val="185FA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64008" cy="30175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332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A8"/>
                </a:solidFill>
              </a:rPr>
              <a:t>RESEARCH TOOL  ·  v2.0  ·  최종 버전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6858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AFM 저널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검색 도구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매뉴얼 Introduction 작성을 위한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D6E8F7"/>
                </a:solidFill>
              </a:rPr>
              <a:t>저널 검색 · 품질 평가 · PDF 수집 · ZIP 내보내기 통합 도구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51560"/>
            <a:ext cx="137160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D6E8F7"/>
                </a:solidFill>
              </a:rPr>
              <a:t>이 발표 자료의 구성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1463040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88366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8379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 배경 &amp; 문제 인식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22199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1762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 표준 작성 프로세스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56032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14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 도구 소개 (v2)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9864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852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 주요 기능 (7가지)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236976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1912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5.  자동 저널 등록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75304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5295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6.  품질 점수 시스템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913632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8679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7.  사용 방법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06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8.  ZIP 출력물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590288"/>
            <a:ext cx="164592" cy="164592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5445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9.  다음 개선 계획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6" name="Text 24"/>
          <p:cNvSpPr/>
          <p:nvPr/>
        </p:nvSpPr>
        <p:spPr>
          <a:xfrm>
            <a:off x="349300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7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349300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핵심 기능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9300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키워드~ZIP 전체 워크플로우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6576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6576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548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6327648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학술 DB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17373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CrossRef·Scholar·ScienceDirect 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36" name="Text 34"/>
          <p:cNvSpPr/>
          <p:nvPr/>
        </p:nvSpPr>
        <p:spPr>
          <a:xfrm>
            <a:off x="349300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6</a:t>
            </a:r>
            <a:endParaRPr lang="en-US" sz="5000" dirty="0"/>
          </a:p>
        </p:txBody>
      </p:sp>
      <p:sp>
        <p:nvSpPr>
          <p:cNvPr id="37" name="Text 35"/>
          <p:cNvSpPr/>
          <p:nvPr/>
        </p:nvSpPr>
        <p:spPr>
          <a:xfrm>
            <a:off x="349300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ZIP 출력 파일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9300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JSON·HTML·MD·TXT·PDF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2697480"/>
            <a:ext cx="2633472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697480"/>
            <a:ext cx="64008" cy="2084832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1" name="Text 39"/>
          <p:cNvSpPr/>
          <p:nvPr/>
        </p:nvSpPr>
        <p:spPr>
          <a:xfrm>
            <a:off x="6327648" y="2880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B1D3A"/>
                </a:solidFill>
              </a:rPr>
              <a:t>v2</a:t>
            </a:r>
            <a:endParaRPr lang="en-US" sz="5000" dirty="0"/>
          </a:p>
        </p:txBody>
      </p:sp>
      <p:sp>
        <p:nvSpPr>
          <p:cNvPr id="42" name="Text 40"/>
          <p:cNvSpPr/>
          <p:nvPr/>
        </p:nvSpPr>
        <p:spPr>
          <a:xfrm>
            <a:off x="6327648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40"/>
                </a:solidFill>
              </a:rPr>
              <a:t>최신 버전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27648" y="40690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3A8"/>
                </a:solidFill>
              </a:rPr>
              <a:t>자동 등록 + PDF 수집 추가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Background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배경 &amp; 문제 인식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1426464"/>
            <a:ext cx="493776" cy="4937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저널 검색의 비효율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연구자마다 다른 DB를 사용하고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검색 기준이 달라 시간이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크게 소모됨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26464"/>
            <a:ext cx="493776" cy="4937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3192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품질 판단 기준 부재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IF · 인용 수 · 수식 수를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동시에 고려할 통합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평가 도구 없음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234440"/>
            <a:ext cx="2633472" cy="333756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426464"/>
            <a:ext cx="493776" cy="4937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66560" y="2029968"/>
            <a:ext cx="1170432" cy="457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3"/>
          <p:cNvSpPr/>
          <p:nvPr/>
        </p:nvSpPr>
        <p:spPr>
          <a:xfrm>
            <a:off x="6172200" y="21214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반복적인 수작업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633472"/>
            <a:ext cx="23591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키워드 정리 → 링크 복사 →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저널 메모 → 초안 작성이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매번 반복됨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→  이 모든 과정을 단 하나의 HTML 파일로 통합한 도구가 AFM Journal Search Tool v2 입니다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3" name="Text 18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Standard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AFM 매뉴얼 Introduction 표준 작성 프로세스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2578608"/>
            <a:ext cx="7406640" cy="5486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2258568"/>
            <a:ext cx="640080" cy="64008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971800"/>
            <a:ext cx="1444752" cy="457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키워드 추합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이전 매뉴얼 +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Park Systems 학습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페이지 기반 키워드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59152" y="2258568"/>
            <a:ext cx="640080" cy="64008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3" name="Text 11"/>
          <p:cNvSpPr/>
          <p:nvPr/>
        </p:nvSpPr>
        <p:spPr>
          <a:xfrm>
            <a:off x="2359152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139696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39696" y="2971800"/>
            <a:ext cx="1444752" cy="457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6" name="Text 14"/>
          <p:cNvSpPr/>
          <p:nvPr/>
        </p:nvSpPr>
        <p:spPr>
          <a:xfrm>
            <a:off x="2185416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저널 검색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85416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API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Google Scholar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ScienceDirect 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41648" y="2258568"/>
            <a:ext cx="640080" cy="64008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22192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22192" y="2971800"/>
            <a:ext cx="1444752" cy="457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3867912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저널 선별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67912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IF · 인용 수 · 수식 수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기준 품질 점수 산정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(0~100점)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24144" y="2258568"/>
            <a:ext cx="640080" cy="640080"/>
          </a:xfrm>
          <a:prstGeom prst="ellipse">
            <a:avLst/>
          </a:prstGeom>
          <a:solidFill>
            <a:srgbClr val="7B4FA8"/>
          </a:solidFill>
          <a:ln/>
        </p:spPr>
      </p:sp>
      <p:sp>
        <p:nvSpPr>
          <p:cNvPr id="25" name="Text 23"/>
          <p:cNvSpPr/>
          <p:nvPr/>
        </p:nvSpPr>
        <p:spPr>
          <a:xfrm>
            <a:off x="5724144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504688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2971800"/>
            <a:ext cx="1444752" cy="457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550408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초안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0408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물리 수식 중심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사용자 관점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구성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06640" y="2258568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22585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187184" y="2971800"/>
            <a:ext cx="1444752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87184" y="2971800"/>
            <a:ext cx="1444752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232904" y="304495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전문가 검토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&amp; 배포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32904" y="3538728"/>
            <a:ext cx="13533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물리적 타당성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실제 시스템 일치</a:t>
            </a:r>
            <a:endParaRPr lang="en-US" sz="9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피드백 반영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19072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01568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84064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766560" y="237744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D7E4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822960"/>
            <a:ext cx="5029200" cy="50292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017520"/>
            <a:ext cx="3657600" cy="3657600"/>
          </a:xfrm>
          <a:prstGeom prst="ellipse">
            <a:avLst/>
          </a:prstGeom>
          <a:solidFill>
            <a:srgbClr val="00C2A8">
              <a:alpha val="11000"/>
            </a:srgbClr>
          </a:solidFill>
          <a:ln w="12700">
            <a:solidFill>
              <a:srgbClr val="00C2A8">
                <a:alpha val="11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What is it?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AFM Journal Search Tool v2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219456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단 하나의 HTML 파일로 동작하는 독립 실행형 연구 도구입니다.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설치 없이 브라우저에서 바로 실행되며, 파일 하나로 누구에게나 공유할 수 있습니다.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7004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단일 HTML 파일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설치 불필요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브라우저로 즉시 실행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5176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6700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7977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오프라인 동작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7977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인터넷 없이도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모든 기능 사용 가능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670048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2861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자동 검색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92861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CrossRef + Unpaywall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자동 메타데이터 수집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949440" y="2542032"/>
            <a:ext cx="1965960" cy="192024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0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67004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77456" y="3127248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즉시 공유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077456" y="3493008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이메일·메신저로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바로 전달 가능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Key Features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7가지 핵심 기능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8463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키워드 설정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Preset 30개 + 커스텀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54864" cy="141732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5FA5"/>
                </a:solidFill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3347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검색 필터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연도·IF·인용 수 기준 설정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54864" cy="1417320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7A6E"/>
                </a:solidFill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8231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DB 검색 링크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6개 DB 자동 URL + Sci-Hub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52" y="133502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④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31152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자동 저널 등록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31152" y="20665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CrossRef + Unpaywall API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70632"/>
            <a:ext cx="54864" cy="141732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030"/>
                </a:solidFill>
              </a:rPr>
              <a:t>⑤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8463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수동 저널 등록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DOI 자동 완성 + 직접 입력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770632"/>
            <a:ext cx="54864" cy="1417320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263347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4FA8"/>
                </a:solidFill>
              </a:rPr>
              <a:t>⑥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3347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저널 목록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3347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정렬·선택·통계 관리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770632"/>
            <a:ext cx="1965960" cy="1417320"/>
          </a:xfrm>
          <a:prstGeom prst="rect">
            <a:avLst/>
          </a:prstGeom>
          <a:solidFill>
            <a:srgbClr val="EEF1F7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770632"/>
            <a:ext cx="54864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782312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</a:rPr>
              <a:t>⑦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782312" y="328269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3A"/>
                </a:solidFill>
              </a:rPr>
              <a:t>ZIP 내보내기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2312" y="36484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6종 파일 + PDF 일괄 다운로드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Auto Registration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자동 저널 등록 프로세스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7315200" cy="45720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64008"/>
          </a:xfrm>
          <a:prstGeom prst="rect">
            <a:avLst/>
          </a:prstGeom>
          <a:solidFill>
            <a:srgbClr val="185FA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41732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00200" y="2788920"/>
            <a:ext cx="274320" cy="274320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0" name="Text 7"/>
          <p:cNvSpPr/>
          <p:nvPr/>
        </p:nvSpPr>
        <p:spPr>
          <a:xfrm>
            <a:off x="16002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CrossRef API 검색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키워드로 관련도 순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상위 10개 저널 검색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(무료 공개 API)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9184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60320" cy="64008"/>
          </a:xfrm>
          <a:prstGeom prst="rect">
            <a:avLst/>
          </a:prstGeom>
          <a:solidFill>
            <a:srgbClr val="1A7A6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34840" y="2788920"/>
            <a:ext cx="274320" cy="274320"/>
          </a:xfrm>
          <a:prstGeom prst="ellipse">
            <a:avLst/>
          </a:prstGeom>
          <a:solidFill>
            <a:srgbClr val="1A7A6E"/>
          </a:solidFill>
          <a:ln/>
        </p:spPr>
      </p:sp>
      <p:sp>
        <p:nvSpPr>
          <p:cNvPr id="18" name="Text 14"/>
          <p:cNvSpPr/>
          <p:nvPr/>
        </p:nvSpPr>
        <p:spPr>
          <a:xfrm>
            <a:off x="44348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2900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Unpaywall PDF 확인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2900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각 DOI별 오픈 액세스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다운로드 가능 여부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실시간 확인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235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0D7E4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6126480" y="123444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234440"/>
            <a:ext cx="2560320" cy="64008"/>
          </a:xfrm>
          <a:prstGeom prst="rect">
            <a:avLst/>
          </a:prstGeom>
          <a:solidFill>
            <a:srgbClr val="E8A03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548640" cy="54864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269480" y="2788920"/>
            <a:ext cx="274320" cy="274320"/>
          </a:xfrm>
          <a:prstGeom prst="ellipse">
            <a:avLst/>
          </a:prstGeom>
          <a:solidFill>
            <a:srgbClr val="E8A030"/>
          </a:solidFill>
          <a:ln/>
        </p:spPr>
      </p:sp>
      <p:sp>
        <p:nvSpPr>
          <p:cNvPr id="26" name="Text 21"/>
          <p:cNvSpPr/>
          <p:nvPr/>
        </p:nvSpPr>
        <p:spPr>
          <a:xfrm>
            <a:off x="72694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63640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자동 등록 &amp; 저장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263640" y="2670048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가능 저널 자동 등록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메타데이터 자동 완성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ZIP에 PDF 포함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4636008"/>
            <a:ext cx="8412480" cy="320040"/>
          </a:xfrm>
          <a:prstGeom prst="rect">
            <a:avLst/>
          </a:prstGeom>
          <a:solidFill>
            <a:srgbClr val="D6E8F7"/>
          </a:solidFill>
          <a:ln/>
        </p:spPr>
      </p:sp>
      <p:sp>
        <p:nvSpPr>
          <p:cNvPr id="30" name="Text 25"/>
          <p:cNvSpPr/>
          <p:nvPr/>
        </p:nvSpPr>
        <p:spPr>
          <a:xfrm>
            <a:off x="548640" y="46542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⚡  이메일 주소 입력만으로 CrossRef + Unpaywall 두 API를 동시에 활용 — 별도 API 키 불필요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2" name="Text 2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Quality Score System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저널 품질 점수 자동 산정 시스템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34930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점수 = IF + 인용 + 수식 + 보너스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65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인용 수 (Citations)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39696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39696"/>
            <a:ext cx="1426464" cy="20116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591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40점  ·  500회 이상 = 만점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Impact Factor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52928"/>
            <a:ext cx="1069848" cy="20116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723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30점  ·  IF 20 이상 = 만점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수식 수 (Equations)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66160"/>
            <a:ext cx="713232" cy="20116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856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20점  ·  20개 이상 = 만점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40"/>
                </a:solidFill>
              </a:rPr>
              <a:t>Physics / 회로 포함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79392"/>
            <a:ext cx="3566160" cy="201168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279392"/>
            <a:ext cx="356616" cy="20116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498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10점  ·  각 5점 보너스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</a:rPr>
              <a:t>점수 등급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856232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856232"/>
            <a:ext cx="64008" cy="822960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6" name="Text 24"/>
          <p:cNvSpPr/>
          <p:nvPr/>
        </p:nvSpPr>
        <p:spPr>
          <a:xfrm>
            <a:off x="5010912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AA6E"/>
                </a:solidFill>
              </a:rPr>
              <a:t>70~100점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10912" y="224942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우수  ·  Introduction 핵심 참고 저널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834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834640"/>
            <a:ext cx="64008" cy="82296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0" name="Text 28"/>
          <p:cNvSpPr/>
          <p:nvPr/>
        </p:nvSpPr>
        <p:spPr>
          <a:xfrm>
            <a:off x="5010912" y="2880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</a:rPr>
              <a:t>40~69점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10912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양호  ·  보조 참고 자료로 활용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13048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813048"/>
            <a:ext cx="64008" cy="822960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34" name="Text 32"/>
          <p:cNvSpPr/>
          <p:nvPr/>
        </p:nvSpPr>
        <p:spPr>
          <a:xfrm>
            <a:off x="5010912" y="38587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30"/>
                </a:solidFill>
              </a:rPr>
              <a:t>0~39점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4206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검토 필요  ·  추가 검증 후 사용 권장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How to Use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사용 방법 — Step by Step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" y="1682496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8" name="Text 6"/>
          <p:cNvSpPr/>
          <p:nvPr/>
        </p:nvSpPr>
        <p:spPr>
          <a:xfrm>
            <a:off x="950976" y="12344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50976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HTML 파일 열기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1243584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AFM_Journal_Search_Tool_KO.html을 Chrome/Edge로 드래그 앤 드롭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56232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20240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920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" y="2395728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50976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키워드 선택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956816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Preset 30개 클릭 선택 또는 직접 커스텀 키워드 추가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569464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33472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4068" y="3108960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266090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50976" y="28620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자동 검색 실행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670048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이메일 입력 후 '자동 검색 시작' → CrossRef + Unpaywall API 자동 실행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82696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346704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4068" y="3822192"/>
            <a:ext cx="45720" cy="2377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29" name="Text 27"/>
          <p:cNvSpPr/>
          <p:nvPr/>
        </p:nvSpPr>
        <p:spPr>
          <a:xfrm>
            <a:off x="950976" y="3374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0976" y="35753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PDF 가능 저널 등록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383280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PDF 접근 가능 저널 일괄 등록 또는 개별 선택 등록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995928"/>
            <a:ext cx="5486400" cy="9144"/>
          </a:xfrm>
          <a:prstGeom prst="rect">
            <a:avLst/>
          </a:prstGeom>
          <a:solidFill>
            <a:srgbClr val="D0D7E4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059936"/>
            <a:ext cx="475488" cy="475488"/>
          </a:xfrm>
          <a:prstGeom prst="ellipse">
            <a:avLst/>
          </a:prstGeom>
          <a:solidFill>
            <a:srgbClr val="0B1D3A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0976" y="40873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50976" y="42885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</a:rPr>
              <a:t>ZIP 다운로드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4096512"/>
            <a:ext cx="5486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5568"/>
                </a:solidFill>
              </a:rPr>
              <a:t>모드명 입력 후 ZIP 버튼 클릭 — PDF + 6종 파일 일괄 다운로드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0C2A8"/>
                </a:solidFill>
              </a:rPr>
              <a:t>ZIP Output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42976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ZIP 출력 파일 상세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536192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7" name="Shape 5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solidFill>
            <a:srgbClr val="E8A030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JSON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journals.json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저널 전체 메타데이터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(IF · 인용 · 점수 · PDF URL)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188720"/>
            <a:ext cx="64008" cy="15361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4" name="Text 12"/>
          <p:cNvSpPr/>
          <p:nvPr/>
        </p:nvSpPr>
        <p:spPr>
          <a:xfrm>
            <a:off x="3877056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HTML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report.html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브라우저 열람 가능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저널 품질 비교 보고서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0016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188720"/>
            <a:ext cx="64008" cy="1536192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solidFill>
            <a:srgbClr val="3DAA6E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64608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keywords.txt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키워드 목록 및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전체 검색 쿼리 문자열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12864" y="118872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188720"/>
            <a:ext cx="64008" cy="1536192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solidFill>
            <a:srgbClr val="1A7A6E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12801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7456" y="1335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search_links.txt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77456" y="17556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6개 DB 자동 생성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검색 URL 목록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64008" cy="1536192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solidFill>
            <a:srgbClr val="7B4FA8"/>
          </a:solidFill>
          <a:ln/>
        </p:spPr>
      </p:sp>
      <p:sp>
        <p:nvSpPr>
          <p:cNvPr id="32" name="Text 30"/>
          <p:cNvSpPr/>
          <p:nvPr/>
        </p:nvSpPr>
        <p:spPr>
          <a:xfrm>
            <a:off x="1664208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8912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intro_template.md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8912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Chapter 1 Introduction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Markdown 초안 (수식 포함)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87168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87168" y="2926080"/>
            <a:ext cx="64008" cy="15361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Shape 35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8" name="Text 36"/>
          <p:cNvSpPr/>
          <p:nvPr/>
        </p:nvSpPr>
        <p:spPr>
          <a:xfrm>
            <a:off x="3877056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review_checklist.md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AFM 전문가 피드백용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검토 체크리스트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0016" y="2926080"/>
            <a:ext cx="2029968" cy="15361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926080"/>
            <a:ext cx="64008" cy="153619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3" name="Shape 41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4" name="Text 42"/>
          <p:cNvSpPr/>
          <p:nvPr/>
        </p:nvSpPr>
        <p:spPr>
          <a:xfrm>
            <a:off x="6089904" y="301752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PDF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30723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D3A"/>
                </a:solidFill>
              </a:rPr>
              <a:t>pdf/ (folder)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64608" y="34930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오픈 액세스 PDF 자동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</a:rPr>
              <a:t>다운로드 포함 폴더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92624"/>
            <a:ext cx="8412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7E4"/>
                </a:solidFill>
              </a:rPr>
              <a:t>AFM Journal Search Tool v2  ·  Park Systems  ·  2025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03920" y="481888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8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85FA5">
              <a:alpha val="16000"/>
            </a:srgbClr>
          </a:solidFill>
          <a:ln w="12700">
            <a:solidFill>
              <a:srgbClr val="185FA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4114800" cy="4114800"/>
          </a:xfrm>
          <a:prstGeom prst="ellipse">
            <a:avLst/>
          </a:prstGeom>
          <a:solidFill>
            <a:srgbClr val="00C2A8">
              <a:alpha val="13000"/>
            </a:srgbClr>
          </a:solidFill>
          <a:ln w="12700">
            <a:solidFill>
              <a:srgbClr val="00C2A8">
                <a:alpha val="13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C2A8"/>
                </a:solidFill>
              </a:rPr>
              <a:t>Next Revision Plan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다음 버전 개선 계획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2377440" cy="5486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1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3619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03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저널 Grading 세부 규정 고도화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수식 유형별 가중치 세분화 (기본 수식 vs. 핵심 물리 수식)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저널 분야 적합성 지수 추가 (AFM 관련도 자동 판별)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인용 맥락 분석 — 단순 인용 vs. 핵심 참고로 분류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Impact Factor 구간별 차등 점수 체계 도입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최신성 지수 추가 (최근 5년 인용 비율 반영)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114800" cy="3474720"/>
          </a:xfrm>
          <a:prstGeom prst="rect">
            <a:avLst/>
          </a:prstGeom>
          <a:solidFill>
            <a:srgbClr val="185FA5">
              <a:alpha val="20000"/>
            </a:srgbClr>
          </a:solidFill>
          <a:ln w="12700">
            <a:solidFill>
              <a:srgbClr val="5BA3E0">
                <a:alpha val="4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5" name="Text 12"/>
          <p:cNvSpPr/>
          <p:nvPr/>
        </p:nvSpPr>
        <p:spPr>
          <a:xfrm>
            <a:off x="4873752" y="15819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REVISION 2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3619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73752" y="1901952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등록 저널 기반 Introduction 자동 작성 지원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73752" y="2450592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등록된 저널에서 핵심 문장 자동 Summary 추출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기존 Introduction 구성 구조에 맞춘 섹션별 내용 배치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수식·레퍼런스 자동 매핑 및 초안 생성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사용자 검토 → 피드백 반영 → 재생성 워크플로우</a:t>
            </a:r>
            <a:endParaRPr lang="en-US" sz="10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D6E8F7"/>
                </a:solidFill>
              </a:rPr>
              <a:t>·  최종 초안을 Markdown / Word 형식으로 내보내기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91628"/>
          </a:solidFill>
          <a:ln/>
        </p:spPr>
      </p:sp>
      <p:sp>
        <p:nvSpPr>
          <p:cNvPr id="20" name="Text 1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7E4"/>
                </a:solidFill>
              </a:rPr>
              <a:t>Park Systems  ·  AFM Manual Introduction Builder  ·  2025  ·  v3 예정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AFM Journal Search Tool v2 — 소개 자료</dc:title>
  <dc:subject>PptxGenJS Presentation</dc:subject>
  <dc:creator>Park Systems</dc:creator>
  <cp:lastModifiedBy>Park Systems</cp:lastModifiedBy>
  <cp:revision>1</cp:revision>
  <dcterms:created xsi:type="dcterms:W3CDTF">2026-05-21T09:29:15Z</dcterms:created>
  <dcterms:modified xsi:type="dcterms:W3CDTF">2026-05-21T09:29:15Z</dcterms:modified>
</cp:coreProperties>
</file>