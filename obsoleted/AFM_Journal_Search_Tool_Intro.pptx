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097280"/>
            <a:ext cx="5943600" cy="5943600"/>
          </a:xfrm>
          <a:prstGeom prst="ellipse">
            <a:avLst/>
          </a:prstGeom>
          <a:solidFill>
            <a:srgbClr val="185FA5">
              <a:alpha val="20000"/>
            </a:srgbClr>
          </a:solidFill>
          <a:ln w="12700">
            <a:solidFill>
              <a:srgbClr val="185FA5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00C2A8">
              <a:alpha val="12000"/>
            </a:srgbClr>
          </a:solidFill>
          <a:ln w="12700">
            <a:solidFill>
              <a:srgbClr val="00C2A8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05840"/>
            <a:ext cx="64008" cy="292608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5156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2A8"/>
                </a:solidFill>
              </a:rPr>
              <a:t>RESEARCH TOOL  ·  v1.0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1389888"/>
            <a:ext cx="6858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AFM Journal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Search Tool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85800" y="320040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D6E8F7"/>
                </a:solidFill>
              </a:rPr>
              <a:t>Manual Introduction 작성을 위한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D6E8F7"/>
                </a:solidFill>
              </a:rPr>
              <a:t>저널 검색 · 품질 평가 · ZIP 내보내기 통합 도구</a:t>
            </a:r>
            <a:endParaRPr lang="en-US" sz="15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097280"/>
            <a:ext cx="1371600" cy="1371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91628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7E4"/>
                </a:solidFill>
              </a:rPr>
              <a:t>Park Systems  ·  AFM Manual Introduction Builder  ·  2025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Contents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960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이 발표 자료의 구성을 소개합니다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74320" y="1536192"/>
            <a:ext cx="1371600" cy="4572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965960"/>
            <a:ext cx="201168" cy="20116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920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1.  배경 &amp; 문제 인식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2514600"/>
            <a:ext cx="201168" cy="20116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468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2.  표준 작성 프로세스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3063240"/>
            <a:ext cx="201168" cy="20116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3017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3.  도구 소개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3611880"/>
            <a:ext cx="201168" cy="20116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566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4.  주요 기능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4160520"/>
            <a:ext cx="201168" cy="20116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4114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5.  사용 방법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0" y="36576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365760"/>
            <a:ext cx="54864" cy="201168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0" y="59436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B1D3A"/>
                </a:solidFill>
              </a:rPr>
              <a:t>5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3383280" y="13898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540"/>
                </a:solidFill>
              </a:rPr>
              <a:t>단계 표준 프로세스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383280" y="1737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A93A8"/>
                </a:solidFill>
              </a:rPr>
              <a:t>키워드 → 검색 → 선별 → 초안 → 피드백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80760" y="36576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80760" y="365760"/>
            <a:ext cx="54864" cy="201168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59436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B1D3A"/>
                </a:solidFill>
              </a:rPr>
              <a:t>7</a:t>
            </a:r>
            <a:endParaRPr lang="en-US" sz="5200" dirty="0"/>
          </a:p>
        </p:txBody>
      </p:sp>
      <p:sp>
        <p:nvSpPr>
          <p:cNvPr id="24" name="Text 22"/>
          <p:cNvSpPr/>
          <p:nvPr/>
        </p:nvSpPr>
        <p:spPr>
          <a:xfrm>
            <a:off x="6263640" y="13898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540"/>
                </a:solidFill>
              </a:rPr>
              <a:t>학술 데이터베이스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263640" y="1737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A93A8"/>
                </a:solidFill>
              </a:rPr>
              <a:t>Scholar · ScienceDirect · Springer · ACS 외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0" y="265176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0" y="2651760"/>
            <a:ext cx="54864" cy="201168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28" name="Text 26"/>
          <p:cNvSpPr/>
          <p:nvPr/>
        </p:nvSpPr>
        <p:spPr>
          <a:xfrm>
            <a:off x="3383280" y="288036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B1D3A"/>
                </a:solidFill>
              </a:rPr>
              <a:t>3</a:t>
            </a:r>
            <a:endParaRPr lang="en-US" sz="5200" dirty="0"/>
          </a:p>
        </p:txBody>
      </p:sp>
      <p:sp>
        <p:nvSpPr>
          <p:cNvPr id="29" name="Text 27"/>
          <p:cNvSpPr/>
          <p:nvPr/>
        </p:nvSpPr>
        <p:spPr>
          <a:xfrm>
            <a:off x="3383280" y="36758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540"/>
                </a:solidFill>
              </a:rPr>
              <a:t>품질 평가 기준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383280" y="4023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A93A8"/>
                </a:solidFill>
              </a:rPr>
              <a:t>IF · Citations · 수식 수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80760" y="265176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80760" y="2651760"/>
            <a:ext cx="54864" cy="201168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3" name="Text 31"/>
          <p:cNvSpPr/>
          <p:nvPr/>
        </p:nvSpPr>
        <p:spPr>
          <a:xfrm>
            <a:off x="6263640" y="288036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B1D3A"/>
                </a:solidFill>
              </a:rPr>
              <a:t>6</a:t>
            </a:r>
            <a:endParaRPr lang="en-US" sz="5200" dirty="0"/>
          </a:p>
        </p:txBody>
      </p:sp>
      <p:sp>
        <p:nvSpPr>
          <p:cNvPr id="34" name="Text 32"/>
          <p:cNvSpPr/>
          <p:nvPr/>
        </p:nvSpPr>
        <p:spPr>
          <a:xfrm>
            <a:off x="6263640" y="36758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540"/>
                </a:solidFill>
              </a:rPr>
              <a:t>ZIP 출력 파일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263640" y="4023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A93A8"/>
                </a:solidFill>
              </a:rPr>
              <a:t>JSON · HTML · MD · TXT 포함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4992624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7E4"/>
                </a:solidFill>
              </a:rPr>
              <a:t>AFM Journal Search Tool  ·  Park Systems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2A8"/>
                </a:solidFill>
              </a:rPr>
              <a:t>Background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배경 &amp; 문제 인식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606040" cy="3291840"/>
          </a:xfrm>
          <a:prstGeom prst="rect">
            <a:avLst/>
          </a:prstGeom>
          <a:solidFill>
            <a:srgbClr val="EEF1F7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508760"/>
            <a:ext cx="50292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97280" y="2103120"/>
            <a:ext cx="1143000" cy="4572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22219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</a:rPr>
              <a:t>저널 검색의 비효율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274320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4A5568"/>
                </a:solidFill>
              </a:rPr>
              <a:t>연구자마다 다른 DB를 사용하고</a:t>
            </a:r>
            <a:endParaRPr lang="en-US" sz="11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4A5568"/>
                </a:solidFill>
              </a:rPr>
              <a:t>검색 키워드 선정 기준도 없어</a:t>
            </a:r>
            <a:endParaRPr lang="en-US" sz="11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4A5568"/>
                </a:solidFill>
              </a:rPr>
              <a:t>시간이 크게 소모됨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00400" y="1325880"/>
            <a:ext cx="2606040" cy="3291840"/>
          </a:xfrm>
          <a:prstGeom prst="rect">
            <a:avLst/>
          </a:prstGeom>
          <a:solidFill>
            <a:srgbClr val="EEF1F7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508760"/>
            <a:ext cx="502920" cy="5029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931920" y="2103120"/>
            <a:ext cx="1143000" cy="4572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3" name="Text 9"/>
          <p:cNvSpPr/>
          <p:nvPr/>
        </p:nvSpPr>
        <p:spPr>
          <a:xfrm>
            <a:off x="3337560" y="22219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</a:rPr>
              <a:t>품질 판단 기준 부재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337560" y="274320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4A5568"/>
                </a:solidFill>
              </a:rPr>
              <a:t>Impact Factor · 인용 수 · 수식 수</a:t>
            </a:r>
            <a:endParaRPr lang="en-US" sz="11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4A5568"/>
                </a:solidFill>
              </a:rPr>
              <a:t>등 다양한 기준을 동시에 고려해야</a:t>
            </a:r>
            <a:endParaRPr lang="en-US" sz="11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4A5568"/>
                </a:solidFill>
              </a:rPr>
              <a:t>하나 통합 도구 없음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035040" y="1325880"/>
            <a:ext cx="2606040" cy="3291840"/>
          </a:xfrm>
          <a:prstGeom prst="rect">
            <a:avLst/>
          </a:prstGeom>
          <a:solidFill>
            <a:srgbClr val="EEF1F7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508760"/>
            <a:ext cx="502920" cy="50292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766560" y="2103120"/>
            <a:ext cx="1143000" cy="4572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8" name="Text 13"/>
          <p:cNvSpPr/>
          <p:nvPr/>
        </p:nvSpPr>
        <p:spPr>
          <a:xfrm>
            <a:off x="6172200" y="22219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</a:rPr>
              <a:t>반복적인 수작업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172200" y="274320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4A5568"/>
                </a:solidFill>
              </a:rPr>
              <a:t>키워드 정리 → 링크 복사 →</a:t>
            </a:r>
            <a:endParaRPr lang="en-US" sz="11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4A5568"/>
                </a:solidFill>
              </a:rPr>
              <a:t>저널 메모 → 초안 템플릿 작성이</a:t>
            </a:r>
            <a:endParaRPr lang="en-US" sz="11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4A5568"/>
                </a:solidFill>
              </a:rPr>
              <a:t>매번 반복됨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D6E8F7"/>
          </a:solidFill>
          <a:ln/>
        </p:spPr>
      </p:sp>
      <p:sp>
        <p:nvSpPr>
          <p:cNvPr id="21" name="Text 16"/>
          <p:cNvSpPr/>
          <p:nvPr/>
        </p:nvSpPr>
        <p:spPr>
          <a:xfrm>
            <a:off x="548640" y="46817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→  이 모든 과정을 단일 HTML 파일 하나로 통합한 도구가 필요했습니다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23" name="Text 18"/>
          <p:cNvSpPr/>
          <p:nvPr/>
        </p:nvSpPr>
        <p:spPr>
          <a:xfrm>
            <a:off x="365760" y="4992624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7E4"/>
                </a:solidFill>
              </a:rPr>
              <a:t>AFM Journal Search Tool  ·  Park Systems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2A8"/>
                </a:solidFill>
              </a:rPr>
              <a:t>Standard Process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AFM 매뉴얼 Introduction 표준 작성 프로세스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68680" y="2606040"/>
            <a:ext cx="7406640" cy="54864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286000"/>
            <a:ext cx="640080" cy="640080"/>
          </a:xfrm>
          <a:prstGeom prst="ellipse">
            <a:avLst/>
          </a:prstGeom>
          <a:solidFill>
            <a:srgbClr val="185FA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75488" y="2999232"/>
            <a:ext cx="1417320" cy="18105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" y="2999232"/>
            <a:ext cx="1417320" cy="4572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307238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D3A"/>
                </a:solidFill>
              </a:rPr>
              <a:t>키워드 추합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21208" y="3493008"/>
            <a:ext cx="1325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이전 매뉴얼 +</a:t>
            </a:r>
            <a:endParaRPr lang="en-US" sz="9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Park Systems 학습 페이지</a:t>
            </a:r>
            <a:endParaRPr lang="en-US" sz="9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기반 키워드 정리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368296" y="2286000"/>
            <a:ext cx="640080" cy="640080"/>
          </a:xfrm>
          <a:prstGeom prst="ellipse">
            <a:avLst/>
          </a:prstGeom>
          <a:solidFill>
            <a:srgbClr val="1A7A6E"/>
          </a:solidFill>
          <a:ln/>
        </p:spPr>
      </p:sp>
      <p:sp>
        <p:nvSpPr>
          <p:cNvPr id="13" name="Text 11"/>
          <p:cNvSpPr/>
          <p:nvPr/>
        </p:nvSpPr>
        <p:spPr>
          <a:xfrm>
            <a:off x="2368296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157984" y="2999232"/>
            <a:ext cx="1417320" cy="18105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157984" y="2999232"/>
            <a:ext cx="1417320" cy="45720"/>
          </a:xfrm>
          <a:prstGeom prst="rect">
            <a:avLst/>
          </a:prstGeom>
          <a:solidFill>
            <a:srgbClr val="1A7A6E"/>
          </a:solidFill>
          <a:ln/>
        </p:spPr>
      </p:sp>
      <p:sp>
        <p:nvSpPr>
          <p:cNvPr id="16" name="Text 14"/>
          <p:cNvSpPr/>
          <p:nvPr/>
        </p:nvSpPr>
        <p:spPr>
          <a:xfrm>
            <a:off x="2203704" y="307238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D3A"/>
                </a:solidFill>
              </a:rPr>
              <a:t>저널 검색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203704" y="3493008"/>
            <a:ext cx="1325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Google Scholar</a:t>
            </a:r>
            <a:endParaRPr lang="en-US" sz="9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ScienceDirect</a:t>
            </a:r>
            <a:endParaRPr lang="en-US" sz="9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Sci-Hub (유료 저널)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050792" y="2286000"/>
            <a:ext cx="640080" cy="640080"/>
          </a:xfrm>
          <a:prstGeom prst="ellipse">
            <a:avLst/>
          </a:prstGeom>
          <a:solidFill>
            <a:srgbClr val="E8A030"/>
          </a:solidFill>
          <a:ln/>
        </p:spPr>
      </p:sp>
      <p:sp>
        <p:nvSpPr>
          <p:cNvPr id="19" name="Text 17"/>
          <p:cNvSpPr/>
          <p:nvPr/>
        </p:nvSpPr>
        <p:spPr>
          <a:xfrm>
            <a:off x="4050792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840480" y="2999232"/>
            <a:ext cx="1417320" cy="18105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40480" y="2999232"/>
            <a:ext cx="1417320" cy="45720"/>
          </a:xfrm>
          <a:prstGeom prst="rect">
            <a:avLst/>
          </a:prstGeom>
          <a:solidFill>
            <a:srgbClr val="E8A030"/>
          </a:solidFill>
          <a:ln/>
        </p:spPr>
      </p:sp>
      <p:sp>
        <p:nvSpPr>
          <p:cNvPr id="22" name="Text 20"/>
          <p:cNvSpPr/>
          <p:nvPr/>
        </p:nvSpPr>
        <p:spPr>
          <a:xfrm>
            <a:off x="3886200" y="307238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D3A"/>
                </a:solidFill>
              </a:rPr>
              <a:t>저널 선별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886200" y="3493008"/>
            <a:ext cx="1325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수식 수 · 인용 수</a:t>
            </a:r>
            <a:endParaRPr lang="en-US" sz="9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Impact Factor 기준</a:t>
            </a:r>
            <a:endParaRPr lang="en-US" sz="9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품질 점수 산정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733288" y="2286000"/>
            <a:ext cx="640080" cy="640080"/>
          </a:xfrm>
          <a:prstGeom prst="ellipse">
            <a:avLst/>
          </a:prstGeom>
          <a:solidFill>
            <a:srgbClr val="7B4FA8"/>
          </a:solidFill>
          <a:ln/>
        </p:spPr>
      </p:sp>
      <p:sp>
        <p:nvSpPr>
          <p:cNvPr id="25" name="Text 23"/>
          <p:cNvSpPr/>
          <p:nvPr/>
        </p:nvSpPr>
        <p:spPr>
          <a:xfrm>
            <a:off x="5733288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522976" y="2999232"/>
            <a:ext cx="1417320" cy="18105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22976" y="2999232"/>
            <a:ext cx="1417320" cy="45720"/>
          </a:xfrm>
          <a:prstGeom prst="rect">
            <a:avLst/>
          </a:prstGeom>
          <a:solidFill>
            <a:srgbClr val="7B4FA8"/>
          </a:solidFill>
          <a:ln/>
        </p:spPr>
      </p:sp>
      <p:sp>
        <p:nvSpPr>
          <p:cNvPr id="28" name="Text 26"/>
          <p:cNvSpPr/>
          <p:nvPr/>
        </p:nvSpPr>
        <p:spPr>
          <a:xfrm>
            <a:off x="5568696" y="307238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D3A"/>
                </a:solidFill>
              </a:rPr>
              <a:t>초안 작성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568696" y="3493008"/>
            <a:ext cx="1325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물리 수식 중심</a:t>
            </a:r>
            <a:endParaRPr lang="en-US" sz="9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사용자 관점</a:t>
            </a:r>
            <a:endParaRPr lang="en-US" sz="9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Introduction 초안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415784" y="2286000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1" name="Text 29"/>
          <p:cNvSpPr/>
          <p:nvPr/>
        </p:nvSpPr>
        <p:spPr>
          <a:xfrm>
            <a:off x="7415784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7205472" y="2999232"/>
            <a:ext cx="1417320" cy="18105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205472" y="2999232"/>
            <a:ext cx="1417320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2"/>
          <p:cNvSpPr/>
          <p:nvPr/>
        </p:nvSpPr>
        <p:spPr>
          <a:xfrm>
            <a:off x="7251192" y="307238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D3A"/>
                </a:solidFill>
              </a:rPr>
              <a:t>전문가 검토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251192" y="3493008"/>
            <a:ext cx="1325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물리적 타당성</a:t>
            </a:r>
            <a:endParaRPr lang="en-US" sz="9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실제 시스템 일치 여부</a:t>
            </a:r>
            <a:endParaRPr lang="en-US" sz="95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피드백 반영 후 배포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719072" y="240487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0D7E4"/>
                </a:solidFill>
              </a:rPr>
              <a:t>→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3401568" y="240487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0D7E4"/>
                </a:solidFill>
              </a:rPr>
              <a:t>→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084064" y="240487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0D7E4"/>
                </a:solidFill>
              </a:rPr>
              <a:t>→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766560" y="240487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0D7E4"/>
                </a:solidFill>
              </a:rPr>
              <a:t>→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" y="4992624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7E4"/>
                </a:solidFill>
              </a:rPr>
              <a:t>AFM Journal Search Tool  ·  Park Systems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4572000" cy="4572000"/>
          </a:xfrm>
          <a:prstGeom prst="ellipse">
            <a:avLst/>
          </a:prstGeom>
          <a:solidFill>
            <a:srgbClr val="185FA5">
              <a:alpha val="15000"/>
            </a:srgbClr>
          </a:solidFill>
          <a:ln w="12700">
            <a:solidFill>
              <a:srgbClr val="185FA5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00C2A8">
              <a:alpha val="10000"/>
            </a:srgbClr>
          </a:solidFill>
          <a:ln w="12700">
            <a:solidFill>
              <a:srgbClr val="00C2A8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C2A8"/>
                </a:solidFill>
              </a:rPr>
              <a:t>What is it?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AFM Journal Search Tool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2011680" cy="54864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6002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D6E8F7"/>
                </a:solidFill>
              </a:rPr>
              <a:t>단 하나의 HTML 파일로 작동하는 독립 실행형 연구 도구입니다.</a:t>
            </a:r>
            <a:endParaRPr lang="en-US" sz="13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D6E8F7"/>
                </a:solidFill>
              </a:rPr>
              <a:t>인터넷 연결 없이도 사용 가능하며, 누구에게나 파일 하나로 공유할 수 있습니다.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651760"/>
            <a:ext cx="2560320" cy="1828800"/>
          </a:xfrm>
          <a:prstGeom prst="rect">
            <a:avLst/>
          </a:prstGeom>
          <a:solidFill>
            <a:srgbClr val="185FA5">
              <a:alpha val="20000"/>
            </a:srgbClr>
          </a:solidFill>
          <a:ln w="12700">
            <a:solidFill>
              <a:srgbClr val="5BA3E0">
                <a:alpha val="4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78892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327355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단일 HTML 파일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36576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6E8F7"/>
                </a:solidFill>
              </a:rPr>
              <a:t>설치 불필요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6E8F7"/>
                </a:solidFill>
              </a:rPr>
              <a:t>브라우저로 바로 실행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37560" y="2651760"/>
            <a:ext cx="2560320" cy="1828800"/>
          </a:xfrm>
          <a:prstGeom prst="rect">
            <a:avLst/>
          </a:prstGeom>
          <a:solidFill>
            <a:srgbClr val="185FA5">
              <a:alpha val="20000"/>
            </a:srgbClr>
          </a:solidFill>
          <a:ln w="12700">
            <a:solidFill>
              <a:srgbClr val="5BA3E0">
                <a:alpha val="40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008" y="278892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74720" y="327355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오프라인 동작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474720" y="36576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6E8F7"/>
                </a:solidFill>
              </a:rPr>
              <a:t>인터넷 없이도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6E8F7"/>
                </a:solidFill>
              </a:rPr>
              <a:t>모든 기능 사용 가능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72200" y="2651760"/>
            <a:ext cx="2560320" cy="1828800"/>
          </a:xfrm>
          <a:prstGeom prst="rect">
            <a:avLst/>
          </a:prstGeom>
          <a:solidFill>
            <a:srgbClr val="185FA5">
              <a:alpha val="20000"/>
            </a:srgbClr>
          </a:solidFill>
          <a:ln w="12700">
            <a:solidFill>
              <a:srgbClr val="5BA3E0">
                <a:alpha val="4000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278892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09360" y="327355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즉시 공유 가능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309360" y="36576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6E8F7"/>
                </a:solidFill>
              </a:rPr>
              <a:t>이메일 첨부 또는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6E8F7"/>
                </a:solidFill>
              </a:rPr>
              <a:t>메신저로 바로 전달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21" name="Text 16"/>
          <p:cNvSpPr/>
          <p:nvPr/>
        </p:nvSpPr>
        <p:spPr>
          <a:xfrm>
            <a:off x="365760" y="4992624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7E4"/>
                </a:solidFill>
              </a:rPr>
              <a:t>AFM Journal Search Tool  ·  Park Systems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2A8"/>
                </a:solidFill>
              </a:rPr>
              <a:t>Key Features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7가지 핵심 기능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1965960" cy="1417320"/>
          </a:xfrm>
          <a:prstGeom prst="rect">
            <a:avLst/>
          </a:prstGeom>
          <a:solidFill>
            <a:srgbClr val="EEF1F7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61872"/>
            <a:ext cx="54864" cy="141732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" y="14264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5FA5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84632" y="179222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D3A"/>
                </a:solidFill>
              </a:rPr>
              <a:t>키워드 설정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4632" y="2157984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Preset 30개 + 커스텀 추가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1261872"/>
            <a:ext cx="1965960" cy="1417320"/>
          </a:xfrm>
          <a:prstGeom prst="rect">
            <a:avLst/>
          </a:prstGeom>
          <a:solidFill>
            <a:srgbClr val="EEF1F7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261872"/>
            <a:ext cx="54864" cy="141732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12" name="Text 10"/>
          <p:cNvSpPr/>
          <p:nvPr/>
        </p:nvSpPr>
        <p:spPr>
          <a:xfrm>
            <a:off x="2633472" y="14264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5FA5"/>
                </a:solidFill>
              </a:rPr>
              <a:t>②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633472" y="179222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D3A"/>
                </a:solidFill>
              </a:rPr>
              <a:t>검색 필터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633472" y="2157984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연도 · IF · 인용 수 · 결과 수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1261872"/>
            <a:ext cx="1965960" cy="1417320"/>
          </a:xfrm>
          <a:prstGeom prst="rect">
            <a:avLst/>
          </a:prstGeom>
          <a:solidFill>
            <a:srgbClr val="EEF1F7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1261872"/>
            <a:ext cx="54864" cy="1417320"/>
          </a:xfrm>
          <a:prstGeom prst="rect">
            <a:avLst/>
          </a:prstGeom>
          <a:solidFill>
            <a:srgbClr val="1A7A6E"/>
          </a:solidFill>
          <a:ln/>
        </p:spPr>
      </p:sp>
      <p:sp>
        <p:nvSpPr>
          <p:cNvPr id="17" name="Text 15"/>
          <p:cNvSpPr/>
          <p:nvPr/>
        </p:nvSpPr>
        <p:spPr>
          <a:xfrm>
            <a:off x="4782312" y="14264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7A6E"/>
                </a:solidFill>
              </a:rPr>
              <a:t>③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82312" y="179222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D3A"/>
                </a:solidFill>
              </a:rPr>
              <a:t>DB 검색 링크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782312" y="2157984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7개 DB 자동 URL 생성 + Sci-Hub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66560" y="1261872"/>
            <a:ext cx="1965960" cy="1417320"/>
          </a:xfrm>
          <a:prstGeom prst="rect">
            <a:avLst/>
          </a:prstGeom>
          <a:solidFill>
            <a:srgbClr val="EEF1F7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1261872"/>
            <a:ext cx="54864" cy="1417320"/>
          </a:xfrm>
          <a:prstGeom prst="rect">
            <a:avLst/>
          </a:prstGeom>
          <a:solidFill>
            <a:srgbClr val="E8A030"/>
          </a:solidFill>
          <a:ln/>
        </p:spPr>
      </p:sp>
      <p:sp>
        <p:nvSpPr>
          <p:cNvPr id="22" name="Text 20"/>
          <p:cNvSpPr/>
          <p:nvPr/>
        </p:nvSpPr>
        <p:spPr>
          <a:xfrm>
            <a:off x="6931152" y="14264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030"/>
                </a:solidFill>
              </a:rPr>
              <a:t>④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931152" y="179222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D3A"/>
                </a:solidFill>
              </a:rPr>
              <a:t>저널 등록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931152" y="2157984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실시간 품질 점수 프리뷰 (0~100)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2862072"/>
            <a:ext cx="1965960" cy="1417320"/>
          </a:xfrm>
          <a:prstGeom prst="rect">
            <a:avLst/>
          </a:prstGeom>
          <a:solidFill>
            <a:srgbClr val="EEF1F7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862072"/>
            <a:ext cx="54864" cy="1417320"/>
          </a:xfrm>
          <a:prstGeom prst="rect">
            <a:avLst/>
          </a:prstGeom>
          <a:solidFill>
            <a:srgbClr val="E8A030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" y="30266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030"/>
                </a:solidFill>
              </a:rPr>
              <a:t>⑤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84632" y="339242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D3A"/>
                </a:solidFill>
              </a:rPr>
              <a:t>저널 목록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84632" y="3758184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정렬 · 선택 · 통계 관리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468880" y="2862072"/>
            <a:ext cx="1965960" cy="1417320"/>
          </a:xfrm>
          <a:prstGeom prst="rect">
            <a:avLst/>
          </a:prstGeom>
          <a:solidFill>
            <a:srgbClr val="EEF1F7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468880" y="2862072"/>
            <a:ext cx="54864" cy="1417320"/>
          </a:xfrm>
          <a:prstGeom prst="rect">
            <a:avLst/>
          </a:prstGeom>
          <a:solidFill>
            <a:srgbClr val="7B4FA8"/>
          </a:solidFill>
          <a:ln/>
        </p:spPr>
      </p:sp>
      <p:sp>
        <p:nvSpPr>
          <p:cNvPr id="32" name="Text 30"/>
          <p:cNvSpPr/>
          <p:nvPr/>
        </p:nvSpPr>
        <p:spPr>
          <a:xfrm>
            <a:off x="2633472" y="30266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B4FA8"/>
                </a:solidFill>
              </a:rPr>
              <a:t>⑥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2633472" y="339242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D3A"/>
                </a:solidFill>
              </a:rPr>
              <a:t>ZIP 내보내기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2633472" y="3758184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6종 파일 일괄 다운로드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17720" y="2862072"/>
            <a:ext cx="1965960" cy="1417320"/>
          </a:xfrm>
          <a:prstGeom prst="rect">
            <a:avLst/>
          </a:prstGeom>
          <a:solidFill>
            <a:srgbClr val="EEF1F7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17720" y="2862072"/>
            <a:ext cx="54864" cy="1417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7" name="Text 35"/>
          <p:cNvSpPr/>
          <p:nvPr/>
        </p:nvSpPr>
        <p:spPr>
          <a:xfrm>
            <a:off x="4782312" y="30266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</a:rPr>
              <a:t>⑦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4782312" y="339242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D3A"/>
                </a:solidFill>
              </a:rPr>
              <a:t>작성 프로세스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4782312" y="3758184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5단계 워크플로우 + 구성 요소 안내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" y="4992624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7E4"/>
                </a:solidFill>
              </a:rPr>
              <a:t>AFM Journal Search Tool  ·  Park Systems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2A8"/>
                </a:solidFill>
              </a:rPr>
              <a:t>Quality Score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저널 품질 점수 자동 산정 시스템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4114800" cy="3429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716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점수 = IF점 + 인용점 + 수식점 + 보너스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9019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40"/>
                </a:solidFill>
              </a:rPr>
              <a:t>인용 수 (Citations)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76272"/>
            <a:ext cx="3520440" cy="201168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176272"/>
            <a:ext cx="1408176" cy="201168"/>
          </a:xfrm>
          <a:prstGeom prst="rect">
            <a:avLst/>
          </a:prstGeom>
          <a:solidFill>
            <a:srgbClr val="E8A03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39572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</a:rPr>
              <a:t>40점  ·  500회 이상 = 만점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6151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40"/>
                </a:solidFill>
              </a:rPr>
              <a:t>Impact Factor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89504"/>
            <a:ext cx="3520440" cy="201168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889504"/>
            <a:ext cx="1056132" cy="201168"/>
          </a:xfrm>
          <a:prstGeom prst="rect">
            <a:avLst/>
          </a:prstGeom>
          <a:solidFill>
            <a:srgbClr val="3DAA6E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10896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</a:rPr>
              <a:t>30점  ·  IF 20 이상 = 만점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3284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40"/>
                </a:solidFill>
              </a:rPr>
              <a:t>수식 수 (Equations)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02736"/>
            <a:ext cx="3520440" cy="201168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602736"/>
            <a:ext cx="704088" cy="201168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822192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</a:rPr>
              <a:t>20점  ·  20개 이상 = 만점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0416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40"/>
                </a:solidFill>
              </a:rPr>
              <a:t>Physics / 회로 포함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315968"/>
            <a:ext cx="3520440" cy="201168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4315968"/>
            <a:ext cx="352044" cy="201168"/>
          </a:xfrm>
          <a:prstGeom prst="rect">
            <a:avLst/>
          </a:prstGeom>
          <a:solidFill>
            <a:srgbClr val="7B4FA8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535424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</a:rPr>
              <a:t>10점  ·  각 5점 보너스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0" y="13716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</a:rPr>
              <a:t>점수 등급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54880" y="187452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874520"/>
            <a:ext cx="64008" cy="822960"/>
          </a:xfrm>
          <a:prstGeom prst="rect">
            <a:avLst/>
          </a:prstGeom>
          <a:solidFill>
            <a:srgbClr val="3DAA6E"/>
          </a:solidFill>
          <a:ln/>
        </p:spPr>
      </p:sp>
      <p:sp>
        <p:nvSpPr>
          <p:cNvPr id="26" name="Text 24"/>
          <p:cNvSpPr/>
          <p:nvPr/>
        </p:nvSpPr>
        <p:spPr>
          <a:xfrm>
            <a:off x="4919472" y="1920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AA6E"/>
                </a:solidFill>
              </a:rPr>
              <a:t>70~100점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19472" y="22585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우수  ·  Introduction 핵심 참고 저널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2852928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852928"/>
            <a:ext cx="64008" cy="82296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0" name="Text 28"/>
          <p:cNvSpPr/>
          <p:nvPr/>
        </p:nvSpPr>
        <p:spPr>
          <a:xfrm>
            <a:off x="4919472" y="28986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5FA5"/>
                </a:solidFill>
              </a:rPr>
              <a:t>40~69점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19472" y="323697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양호  ·  보조 참고 자료로 활용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54880" y="3831336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831336"/>
            <a:ext cx="64008" cy="822960"/>
          </a:xfrm>
          <a:prstGeom prst="rect">
            <a:avLst/>
          </a:prstGeom>
          <a:solidFill>
            <a:srgbClr val="E8A030"/>
          </a:solidFill>
          <a:ln/>
        </p:spPr>
      </p:sp>
      <p:sp>
        <p:nvSpPr>
          <p:cNvPr id="34" name="Text 32"/>
          <p:cNvSpPr/>
          <p:nvPr/>
        </p:nvSpPr>
        <p:spPr>
          <a:xfrm>
            <a:off x="4919472" y="387705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030"/>
                </a:solidFill>
              </a:rPr>
              <a:t>0~39점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919472" y="421538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검토 필요  ·  추가 검증 후 사용 권장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4992624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7E4"/>
                </a:solidFill>
              </a:rPr>
              <a:t>AFM Journal Search Tool  ·  Park Systems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2A8"/>
                </a:solidFill>
              </a:rPr>
              <a:t>How to Use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사용 방법 — Step by Step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502920" cy="502920"/>
          </a:xfrm>
          <a:prstGeom prst="ellipse">
            <a:avLst/>
          </a:prstGeom>
          <a:solidFill>
            <a:srgbClr val="0B1D3A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261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64792"/>
            <a:ext cx="45720" cy="237744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29844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C2A8"/>
                </a:solidFill>
              </a:rPr>
              <a:t>STEP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60120" y="14996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</a:rPr>
              <a:t>HTML 파일 열기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46120" y="1298448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다운로드한 AFM_Journal_Search_Tool.html을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브라우저(Chrome / Edge)로 드래그 앤 드롭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929384"/>
            <a:ext cx="5486400" cy="9144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" y="2002536"/>
            <a:ext cx="502920" cy="502920"/>
          </a:xfrm>
          <a:prstGeom prst="ellipse">
            <a:avLst/>
          </a:prstGeom>
          <a:solidFill>
            <a:srgbClr val="0B1D3A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2002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505456"/>
            <a:ext cx="45720" cy="237744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20391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C2A8"/>
                </a:solidFill>
              </a:rPr>
              <a:t>STEP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60120" y="2240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</a:rPr>
              <a:t>키워드 선택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46120" y="2039112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Preset 30개 중 클릭으로 선택하거나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직접 커스텀 키워드를 입력해 추가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46120" y="2670048"/>
            <a:ext cx="5486400" cy="9144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19" name="Shape 17"/>
          <p:cNvSpPr/>
          <p:nvPr/>
        </p:nvSpPr>
        <p:spPr>
          <a:xfrm>
            <a:off x="320040" y="2743200"/>
            <a:ext cx="502920" cy="502920"/>
          </a:xfrm>
          <a:prstGeom prst="ellipse">
            <a:avLst/>
          </a:prstGeom>
          <a:solidFill>
            <a:srgbClr val="0B1D3A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3246120"/>
            <a:ext cx="45720" cy="237744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277977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C2A8"/>
                </a:solidFill>
              </a:rPr>
              <a:t>STEP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60120" y="29809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</a:rPr>
              <a:t>검색 링크 클릭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46120" y="2779776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자동 생성된 DB별 URL로 이동해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저널 검색 후 유료 저널은 Sci-Hub 활용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46120" y="3410712"/>
            <a:ext cx="5486400" cy="9144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" y="3483864"/>
            <a:ext cx="502920" cy="502920"/>
          </a:xfrm>
          <a:prstGeom prst="ellipse">
            <a:avLst/>
          </a:prstGeom>
          <a:solidFill>
            <a:srgbClr val="0B1D3A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3483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3986784"/>
            <a:ext cx="45720" cy="237744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29" name="Text 27"/>
          <p:cNvSpPr/>
          <p:nvPr/>
        </p:nvSpPr>
        <p:spPr>
          <a:xfrm>
            <a:off x="960120" y="3520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C2A8"/>
                </a:solidFill>
              </a:rPr>
              <a:t>STEP 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60120" y="3721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</a:rPr>
              <a:t>저널 등록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246120" y="35204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제목 · IF · 인용 수 · 수식 수 입력 시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품질 점수가 실시간으로 계산됨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46120" y="4151376"/>
            <a:ext cx="5486400" cy="9144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33" name="Shape 31"/>
          <p:cNvSpPr/>
          <p:nvPr/>
        </p:nvSpPr>
        <p:spPr>
          <a:xfrm>
            <a:off x="320040" y="4224528"/>
            <a:ext cx="502920" cy="502920"/>
          </a:xfrm>
          <a:prstGeom prst="ellipse">
            <a:avLst/>
          </a:prstGeom>
          <a:solidFill>
            <a:srgbClr val="0B1D3A"/>
          </a:solidFill>
          <a:ln/>
        </p:spPr>
      </p:sp>
      <p:sp>
        <p:nvSpPr>
          <p:cNvPr id="34" name="Text 32"/>
          <p:cNvSpPr/>
          <p:nvPr/>
        </p:nvSpPr>
        <p:spPr>
          <a:xfrm>
            <a:off x="320040" y="4224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60120" y="426110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C2A8"/>
                </a:solidFill>
              </a:rPr>
              <a:t>STEP 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60120" y="44622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</a:rPr>
              <a:t>ZIP 다운로드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246120" y="4261104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모드명 입력 후 ZIP 버튼 클릭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6종 파일이 한 번에 다운로드됨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4992624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7E4"/>
                </a:solidFill>
              </a:rPr>
              <a:t>AFM Journal Search Tool  ·  Park Systems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2A8"/>
                </a:solidFill>
              </a:rPr>
              <a:t>Output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ZIP 출력 파일 상세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61872"/>
            <a:ext cx="64008" cy="1554480"/>
          </a:xfrm>
          <a:prstGeom prst="rect">
            <a:avLst/>
          </a:prstGeom>
          <a:solidFill>
            <a:srgbClr val="E8A030"/>
          </a:solidFill>
          <a:ln/>
        </p:spPr>
      </p:sp>
      <p:sp>
        <p:nvSpPr>
          <p:cNvPr id="7" name="Shape 5"/>
          <p:cNvSpPr/>
          <p:nvPr/>
        </p:nvSpPr>
        <p:spPr>
          <a:xfrm>
            <a:off x="2331720" y="1371600"/>
            <a:ext cx="512064" cy="256032"/>
          </a:xfrm>
          <a:prstGeom prst="rect">
            <a:avLst/>
          </a:prstGeom>
          <a:solidFill>
            <a:srgbClr val="E8A030"/>
          </a:solidFill>
          <a:ln/>
        </p:spPr>
      </p:sp>
      <p:sp>
        <p:nvSpPr>
          <p:cNvPr id="8" name="Text 6"/>
          <p:cNvSpPr/>
          <p:nvPr/>
        </p:nvSpPr>
        <p:spPr>
          <a:xfrm>
            <a:off x="2331720" y="1371600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JSON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21208" y="142646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D3A"/>
                </a:solidFill>
              </a:rPr>
              <a:t>journals.json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21208" y="1856232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저널 메타데이터 전체 구조화 데이터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(IF · 인용 수 · 점수 · DOI 포함)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54680" y="1261872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261872"/>
            <a:ext cx="64008" cy="155448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13" name="Shape 11"/>
          <p:cNvSpPr/>
          <p:nvPr/>
        </p:nvSpPr>
        <p:spPr>
          <a:xfrm>
            <a:off x="5166360" y="1371600"/>
            <a:ext cx="512064" cy="256032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14" name="Text 12"/>
          <p:cNvSpPr/>
          <p:nvPr/>
        </p:nvSpPr>
        <p:spPr>
          <a:xfrm>
            <a:off x="5166360" y="1371600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HTML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55848" y="142646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D3A"/>
                </a:solidFill>
              </a:rPr>
              <a:t>report.html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355848" y="1856232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브라우저에서 열람 가능한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저널 품질 비교 보고서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89320" y="1261872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89320" y="1261872"/>
            <a:ext cx="64008" cy="1554480"/>
          </a:xfrm>
          <a:prstGeom prst="rect">
            <a:avLst/>
          </a:prstGeom>
          <a:solidFill>
            <a:srgbClr val="3DAA6E"/>
          </a:solidFill>
          <a:ln/>
        </p:spPr>
      </p:sp>
      <p:sp>
        <p:nvSpPr>
          <p:cNvPr id="19" name="Shape 17"/>
          <p:cNvSpPr/>
          <p:nvPr/>
        </p:nvSpPr>
        <p:spPr>
          <a:xfrm>
            <a:off x="8001000" y="1371600"/>
            <a:ext cx="512064" cy="256032"/>
          </a:xfrm>
          <a:prstGeom prst="rect">
            <a:avLst/>
          </a:prstGeom>
          <a:solidFill>
            <a:srgbClr val="3DAA6E"/>
          </a:solidFill>
          <a:ln/>
        </p:spPr>
      </p:sp>
      <p:sp>
        <p:nvSpPr>
          <p:cNvPr id="20" name="Text 18"/>
          <p:cNvSpPr/>
          <p:nvPr/>
        </p:nvSpPr>
        <p:spPr>
          <a:xfrm>
            <a:off x="8001000" y="1371600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TXT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90488" y="142646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D3A"/>
                </a:solidFill>
              </a:rPr>
              <a:t>keywords.txt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190488" y="1856232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선택된 키워드 목록 및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전체 검색 쿼리 문자열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2999232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2999232"/>
            <a:ext cx="64008" cy="1554480"/>
          </a:xfrm>
          <a:prstGeom prst="rect">
            <a:avLst/>
          </a:prstGeom>
          <a:solidFill>
            <a:srgbClr val="1A7A6E"/>
          </a:solidFill>
          <a:ln/>
        </p:spPr>
      </p:sp>
      <p:sp>
        <p:nvSpPr>
          <p:cNvPr id="25" name="Shape 23"/>
          <p:cNvSpPr/>
          <p:nvPr/>
        </p:nvSpPr>
        <p:spPr>
          <a:xfrm>
            <a:off x="2331720" y="3108960"/>
            <a:ext cx="512064" cy="256032"/>
          </a:xfrm>
          <a:prstGeom prst="rect">
            <a:avLst/>
          </a:prstGeom>
          <a:solidFill>
            <a:srgbClr val="1A7A6E"/>
          </a:solidFill>
          <a:ln/>
        </p:spPr>
      </p:sp>
      <p:sp>
        <p:nvSpPr>
          <p:cNvPr id="26" name="Text 24"/>
          <p:cNvSpPr/>
          <p:nvPr/>
        </p:nvSpPr>
        <p:spPr>
          <a:xfrm>
            <a:off x="2331720" y="3108960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TXT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21208" y="316382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D3A"/>
                </a:solidFill>
              </a:rPr>
              <a:t>search_links.txt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21208" y="3593592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7개 DB 자동 생성 검색 URL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목록 (Sci-Hub 포함)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154680" y="2999232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54680" y="2999232"/>
            <a:ext cx="64008" cy="1554480"/>
          </a:xfrm>
          <a:prstGeom prst="rect">
            <a:avLst/>
          </a:prstGeom>
          <a:solidFill>
            <a:srgbClr val="7B4FA8"/>
          </a:solidFill>
          <a:ln/>
        </p:spPr>
      </p:sp>
      <p:sp>
        <p:nvSpPr>
          <p:cNvPr id="31" name="Shape 29"/>
          <p:cNvSpPr/>
          <p:nvPr/>
        </p:nvSpPr>
        <p:spPr>
          <a:xfrm>
            <a:off x="5166360" y="3108960"/>
            <a:ext cx="512064" cy="256032"/>
          </a:xfrm>
          <a:prstGeom prst="rect">
            <a:avLst/>
          </a:prstGeom>
          <a:solidFill>
            <a:srgbClr val="7B4FA8"/>
          </a:solidFill>
          <a:ln/>
        </p:spPr>
      </p:sp>
      <p:sp>
        <p:nvSpPr>
          <p:cNvPr id="32" name="Text 30"/>
          <p:cNvSpPr/>
          <p:nvPr/>
        </p:nvSpPr>
        <p:spPr>
          <a:xfrm>
            <a:off x="5166360" y="3108960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55848" y="316382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D3A"/>
                </a:solidFill>
              </a:rPr>
              <a:t>intro_template.md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355848" y="3593592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Chapter 1 Introduction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Markdown 초안 템플릿 (수식 포함)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989320" y="2999232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989320" y="2999232"/>
            <a:ext cx="64008" cy="1554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7" name="Shape 35"/>
          <p:cNvSpPr/>
          <p:nvPr/>
        </p:nvSpPr>
        <p:spPr>
          <a:xfrm>
            <a:off x="8001000" y="3108960"/>
            <a:ext cx="512064" cy="2560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8" name="Text 36"/>
          <p:cNvSpPr/>
          <p:nvPr/>
        </p:nvSpPr>
        <p:spPr>
          <a:xfrm>
            <a:off x="8001000" y="3108960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190488" y="316382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D3A"/>
                </a:solidFill>
              </a:rPr>
              <a:t>review_checklist.md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190488" y="3593592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AFM 전문가 피드백용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검토 항목 체크리스트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4992624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7E4"/>
                </a:solidFill>
              </a:rPr>
              <a:t>AFM Journal Search Tool  ·  Park Systems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50392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5486400" cy="5486400"/>
          </a:xfrm>
          <a:prstGeom prst="ellipse">
            <a:avLst/>
          </a:prstGeom>
          <a:solidFill>
            <a:srgbClr val="185FA5">
              <a:alpha val="18000"/>
            </a:srgbClr>
          </a:solidFill>
          <a:ln w="12700">
            <a:solidFill>
              <a:srgbClr val="185FA5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00C2A8">
              <a:alpha val="13000"/>
            </a:srgbClr>
          </a:solidFill>
          <a:ln w="12700">
            <a:solidFill>
              <a:srgbClr val="00C2A8">
                <a:alpha val="13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0" y="6400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0C2A8"/>
                </a:solidFill>
              </a:rPr>
              <a:t>Get Started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0" y="105156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지금 바로 시작하세요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474720" y="1810512"/>
            <a:ext cx="2194560" cy="54864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6596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D6E8F7"/>
                </a:solidFill>
              </a:rPr>
              <a:t>AFM_Journal_Search_Tool.html 파일 하나로</a:t>
            </a:r>
            <a:endParaRPr lang="en-US" sz="14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D6E8F7"/>
                </a:solidFill>
              </a:rPr>
              <a:t>모든 팀원이 동일한 기준으로 저널을 검색하고 Introduction을 작성할 수 있습니다.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090672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61872" y="30632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단일 파일, 설치 불필요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309067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10912" y="30632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7개 DB 자동 검색 링크</a:t>
            </a:r>
            <a:endParaRPr lang="en-US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5760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61872" y="36301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실시간 품질 점수 산정</a:t>
            </a:r>
            <a:endParaRPr lang="en-US" sz="13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365760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010912" y="36301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6종 파일 ZIP 자동 생성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91628"/>
          </a:solidFill>
          <a:ln/>
        </p:spPr>
      </p:sp>
      <p:sp>
        <p:nvSpPr>
          <p:cNvPr id="17" name="Text 11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7E4"/>
                </a:solidFill>
              </a:rPr>
              <a:t>Park Systems  ·  AFM Manual Introduction Builder  ·  2025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AFM Journal Search Tool — Presentation</dc:title>
  <dc:subject>PptxGenJS Presentation</dc:subject>
  <dc:creator>Park Systems</dc:creator>
  <cp:lastModifiedBy>Park Systems</cp:lastModifiedBy>
  <cp:revision>1</cp:revision>
  <dcterms:created xsi:type="dcterms:W3CDTF">2026-05-20T09:14:06Z</dcterms:created>
  <dcterms:modified xsi:type="dcterms:W3CDTF">2026-05-20T09:14:06Z</dcterms:modified>
</cp:coreProperties>
</file>